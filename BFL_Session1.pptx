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T&amp;L EXCELLENCE PROGRAMME  ·  SESSION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</a:t>
            </a:r>
            <a:endParaRPr lang="en-US" sz="5200" dirty="0"/>
          </a:p>
          <a:p>
            <a:pPr indent="0" marL="0">
              <a:buNone/>
            </a:pPr>
            <a:r>
              <a:rPr lang="en-US" sz="5200" b="1" i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Learning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306324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calm, purposeful classrooms through consistent routines, clear expectations, and strong lesson starts and endings.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4160520"/>
            <a:ext cx="4754880" cy="18288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2793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Nishkam School West London  ·  </a:t>
            </a:r>
            <a:pPr indent="0" marL="0">
              <a:buNone/>
            </a:pPr>
            <a:r>
              <a:rPr lang="en-US" sz="1000" i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Neeva, Mat Uchi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0" y="3931920"/>
            <a:ext cx="1645920" cy="731520"/>
          </a:xfrm>
          <a:prstGeom prst="rect">
            <a:avLst>
              <a:gd name="adj" fmla="val 6250"/>
            </a:avLst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3931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60–75 mins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AIMS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347472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651760" cy="54864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7160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84632" y="19202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 &amp; Purposeful Environments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2578608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conditions for learning before the lesson begins. Every pupil arrives and settles quickly because routines are known, practised, and consistent.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51760" cy="347472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651760" cy="54864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37160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64992" y="19202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 Routines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2578608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non-negotiable routines for entry, instruction, transitions and endings. Consistency removes ambiguity — for pupils and for you.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651760" cy="347472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188720"/>
            <a:ext cx="2651760" cy="54864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37160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45352" y="19202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First-Time Compliance &amp; Strong Starts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5352" y="2578608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expectation that instructions are followed the first time. A strong lesson start sets the tone for everything that follows.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this matter?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691640"/>
            <a:ext cx="2651760" cy="3017520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691640"/>
            <a:ext cx="2651760" cy="45720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8288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84632" y="26974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lesson time can be lost to low-level disruption in unstructured classrooms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" y="4251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EEF, 2021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2651760" cy="3017520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691640"/>
            <a:ext cx="2651760" cy="45720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8288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hrs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64992" y="26974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additional learning time created per year by strong routines — equivalent to 1.5 months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64992" y="4251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Bennett, 2017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1691640"/>
            <a:ext cx="2651760" cy="3017520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691640"/>
            <a:ext cx="2651760" cy="45720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8288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45352" y="26974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teachers spend up to 4× longer establishing routines in the first weeks of term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45352" y="4251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Lemov, Teach Like a Champion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ACTIVITY 1  ✦  </a:t>
            </a:r>
            <a:pPr algn="ctr" indent="0" marL="0">
              <a:buNone/>
            </a:pPr>
            <a:r>
              <a:rPr lang="en-US" sz="1200" spc="200" kern="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Group  ·  10 mins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Routine Audit"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classroom actually look like right now?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240280"/>
            <a:ext cx="4023360" cy="246888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240280"/>
            <a:ext cx="4023360" cy="4572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own — tick which routines you currently have in place (2 mins)
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a partner — share one routine that works brilliantly and one you want to strengthen (3 mins)
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group — facilitator takes 3 responses: what came up most? (5 mins)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240280"/>
            <a:ext cx="4206240" cy="2468880"/>
          </a:xfrm>
          <a:prstGeom prst="rect">
            <a:avLst/>
          </a:prstGeom>
          <a:solidFill>
            <a:srgbClr val="0F1F33"/>
          </a:solidFill>
          <a:ln w="12700">
            <a:solidFill>
              <a:srgbClr val="1628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CHECKLIST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2788920"/>
            <a:ext cx="1828800" cy="475488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81635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Pupils enter silently / calmly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3355848"/>
            <a:ext cx="1828800" cy="475488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38328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Starter task ready before pupils arrive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3922776"/>
            <a:ext cx="1828800" cy="475488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95020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Instructions given once, clearly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2788920"/>
            <a:ext cx="1828800" cy="475488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281635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Transitions between tasks are tight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0840" y="3355848"/>
            <a:ext cx="1828800" cy="475488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38328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No hands up — cold call only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20840" y="3922776"/>
            <a:ext cx="1828800" cy="475488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395020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Exit routine is calm and consistent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EDE6D4"/>
          </a:solidFill>
          <a:ln w="12700">
            <a:solidFill>
              <a:srgbClr val="EDE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Self-directed version: complete the checklist independently, then reflect in writing — what pattern do you notice?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 of Behaviour for Learning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2011680" cy="301752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828800"/>
            <a:ext cx="2011680" cy="50292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" y="24231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97180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and relational conditions that make learning feel safe, predictable, and purposeful. Seating, displays, your position in the room.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28800"/>
            <a:ext cx="2011680" cy="301752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828800"/>
            <a:ext cx="2011680" cy="502920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78608" y="24231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8608" y="297180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sequences that run on autopilot. Entry, starter, transitions, endings. Pupils know what comes next — they don't need to be told.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828800"/>
            <a:ext cx="2011680" cy="301752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828800"/>
            <a:ext cx="2011680" cy="5029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27448" y="24231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27448" y="297180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comply because they trust you. Warm but firm. High expectations communicated with care. Every correction is a teaching act.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1828800"/>
            <a:ext cx="2011680" cy="301752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828800"/>
            <a:ext cx="2011680" cy="502920"/>
          </a:xfrm>
          <a:prstGeom prst="rect">
            <a:avLst/>
          </a:prstGeom>
          <a:solidFill>
            <a:srgbClr val="6B4C8A"/>
          </a:solidFill>
          <a:ln w="12700">
            <a:solidFill>
              <a:srgbClr val="6B4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76288" y="24231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76288" y="297180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expectations, every lesson, every day, for every pupil. Inconsistency breeds testing. Consistency breeds calm.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Perfect Lesson Entry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256032" cy="59436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8229600" cy="59436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288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8745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at the door before the first pupil arrives. Starter task is on the board. Room is arranged.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578608"/>
            <a:ext cx="256032" cy="594360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578608"/>
            <a:ext cx="8229600" cy="59436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578608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62432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enter silently and go directly to seats. You greet individually, scan the room, redirect calmly.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3328416"/>
            <a:ext cx="256032" cy="59436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328416"/>
            <a:ext cx="8229600" cy="59436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328416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3374136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begin the starter task within 90 seconds. You do not begin the lesson until all are settled.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4078224"/>
            <a:ext cx="256032" cy="594360"/>
          </a:xfrm>
          <a:prstGeom prst="rect">
            <a:avLst/>
          </a:prstGeom>
          <a:solidFill>
            <a:srgbClr val="6B4C8A"/>
          </a:solidFill>
          <a:ln w="12700">
            <a:solidFill>
              <a:srgbClr val="6B4C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4078224"/>
            <a:ext cx="8229600" cy="59436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4078224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0" y="4123944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"Pens down, eyes to me." First instruction is given once, clearly. You wait. You do not repeat.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&amp; DISCUSS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you notice?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video clip of a lesson entry. Use the observation frame below.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194560"/>
            <a:ext cx="4114800" cy="1143000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194560"/>
            <a:ext cx="4114800" cy="45720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POSITION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teacher? When do they move?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4114800" cy="1143000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194560"/>
            <a:ext cx="4114800" cy="45720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 BEHAVIOUR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92040" y="25786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quickly do pupils settle? What are they doing?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474720"/>
            <a:ext cx="4114800" cy="1143000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74720"/>
            <a:ext cx="4114800" cy="45720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INSTRUCTION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first instruction given? How many times?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3474720"/>
            <a:ext cx="4114800" cy="1143000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474720"/>
            <a:ext cx="4114800" cy="45720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NON-COMPLIANCE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92040" y="38587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teacher do when a pupil doesn't comply?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video available? Read the scenario card aloud and discuss as a group.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ACTIVITY 2  ✦  </a:t>
            </a:r>
            <a:pPr algn="ctr" indent="0" marL="0">
              <a:buNone/>
            </a:pPr>
            <a:r>
              <a:rPr lang="en-US" sz="1200" spc="200" kern="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Reflection  ·  8 mins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"My Classroom, Honestly"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honest reflection. No one else sees this unless you choose to share.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4160520" cy="1207008"/>
          </a:xfrm>
          <a:prstGeom prst="rect">
            <a:avLst/>
          </a:prstGeom>
          <a:solidFill>
            <a:srgbClr val="FAFAF8"/>
          </a:solidFill>
          <a:ln w="12700">
            <a:solidFill>
              <a:srgbClr val="F2E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148840"/>
            <a:ext cx="4160520" cy="457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single biggest behaviour pattern I see week after week?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86207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— name the behaviour, name the lesson, name the time.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502152"/>
            <a:ext cx="4160520" cy="1207008"/>
          </a:xfrm>
          <a:prstGeom prst="rect">
            <a:avLst/>
          </a:prstGeom>
          <a:solidFill>
            <a:srgbClr val="FAFAF8"/>
          </a:solidFill>
          <a:ln w="12700">
            <a:solidFill>
              <a:srgbClr val="F2E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502152"/>
            <a:ext cx="4160520" cy="457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935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routine am I most inconsistent with — and why?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215384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self-diagnosis. Not blame — curiosity.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148840"/>
            <a:ext cx="4160520" cy="1207008"/>
          </a:xfrm>
          <a:prstGeom prst="rect">
            <a:avLst/>
          </a:prstGeom>
          <a:solidFill>
            <a:srgbClr val="FAFAF8"/>
          </a:solidFill>
          <a:ln w="12700">
            <a:solidFill>
              <a:srgbClr val="F2E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148840"/>
            <a:ext cx="4160520" cy="457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240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25856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change in my classroom if I fixed that one thing?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286207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the pupils who would benefit most.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502152"/>
            <a:ext cx="4160520" cy="1207008"/>
          </a:xfrm>
          <a:prstGeom prst="rect">
            <a:avLst/>
          </a:prstGeom>
          <a:solidFill>
            <a:srgbClr val="FAFAF8"/>
          </a:solidFill>
          <a:ln w="12700">
            <a:solidFill>
              <a:srgbClr val="F2E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502152"/>
            <a:ext cx="4160520" cy="457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5935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6118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am I going to try in my next lesson?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46320" y="4215384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specific, concrete action. Write it as a commitment.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NON-NEGOTIABLE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First-Time Compliance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expectation that every instruction is followed the first time it is given.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240280"/>
            <a:ext cx="4114800" cy="274320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240280"/>
            <a:ext cx="4114800" cy="5029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What it 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high, warm expectation — not a punishment culture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once, clearly, at a reasonable pace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by a pause — you wait, you scan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Reinforced quietly and privately when it doesn't happen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every teacher in the school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2240280"/>
            <a:ext cx="4114800" cy="274320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240280"/>
            <a:ext cx="41148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240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What it IS NOT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8346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Shouting the same instruction three times louder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32461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Threatening consequences before compliance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36576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Negotiating or explaining at length in the moment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4069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non-compliance and moving 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4480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to the pupils you find challenging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ACTIVITY 3  ✦  </a:t>
            </a:r>
            <a:pPr algn="ctr" indent="0" marL="0">
              <a:buNone/>
            </a:pPr>
            <a:r>
              <a:rPr lang="en-US" sz="1200" spc="200" kern="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+ Whole Group  ·  15 mins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"Script It, Then Say It"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your entry script with a partner. Then two volunteers deliver it to the room.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2011680" cy="274320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148840"/>
            <a:ext cx="2011680" cy="4572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9768" y="272491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Your Script (4 mins)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" y="329184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exact words you will say at the door, as pupils enter, and to give your first instruction. Every word — not just the idea.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2148840"/>
            <a:ext cx="2011680" cy="274320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2148840"/>
            <a:ext cx="2011680" cy="4572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78608" y="272491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Practise in Pairs (5 mins)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78608" y="329184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your script to a partner. Partner gives one piece of feedback: Did it feel calm and certain? What word would you change?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2148840"/>
            <a:ext cx="2011680" cy="274320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148840"/>
            <a:ext cx="2011680" cy="4572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27448" y="272491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Volunteer Delivery (5 mins)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27448" y="329184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volunteers deliver their entry to the whole group as if we are Year 9, Period 5, a Tuesday afternoon. Group gives WWW and EBI.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66560" y="2148840"/>
            <a:ext cx="2011680" cy="274320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2148840"/>
            <a:ext cx="2011680" cy="4572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76288" y="272491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 to One Change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76288" y="329184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thing you will do differently in your next entry. Share with your partner. They will check in with you next week.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NISHKAM DIMENSION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Peacefulness as professional practice.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1188720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91440" cy="1188720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38528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"Peacefulness is an inner sense of calm. It is facing your fears and then letting them go. Peace in the world begins with peace in your heart."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3108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Thread 2 · Nishkam Schools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3520440"/>
            <a:ext cx="2651760" cy="1371600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56616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🕊  Calm Teacher = Calm Class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4005072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regulated presence is your most powerful behaviour management tool. Pupils read your state before they hear your words.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3520440"/>
            <a:ext cx="2651760" cy="1371600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356616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🏹  Routine Reduces Conflict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37560" y="4005072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routines remove the conditions for confrontation. When pupils know what to expect, they rarely test the boundaries.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3520440"/>
            <a:ext cx="2651760" cy="1371600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356616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🤝  Consistency is an Act of Care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0" y="4005072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hold the same expectations for every pupil, every day, you are saying: I believe in you enough to expect the best from you.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B4C8A"/>
          </a:solidFill>
          <a:ln w="12700">
            <a:solidFill>
              <a:srgbClr val="6B4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ACTIVITY 4  ✦  </a:t>
            </a:r>
            <a:pPr algn="ctr" indent="0" marL="0">
              <a:buNone/>
            </a:pPr>
            <a:r>
              <a:rPr lang="en-US" sz="1100" spc="200" kern="0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 ·  Self-Directed  ·  Complete Before Next Session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Plan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plan before your next lesson. Bring it to Session 2.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4160520" cy="1234440"/>
          </a:xfrm>
          <a:prstGeom prst="rect">
            <a:avLst/>
          </a:prstGeom>
          <a:solidFill>
            <a:srgbClr val="FAFAF8"/>
          </a:solidFill>
          <a:ln w="12700">
            <a:solidFill>
              <a:srgbClr val="F2E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148840"/>
            <a:ext cx="4160520" cy="45720"/>
          </a:xfrm>
          <a:prstGeom prst="rect">
            <a:avLst/>
          </a:prstGeom>
          <a:solidFill>
            <a:srgbClr val="6B4C8A"/>
          </a:solidFill>
          <a:ln w="12700">
            <a:solidFill>
              <a:srgbClr val="6B4C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5856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 routine I am strengthening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1576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specific. Which routine. Which class. Which lesson.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3520440"/>
            <a:ext cx="4160520" cy="1234440"/>
          </a:xfrm>
          <a:prstGeom prst="rect">
            <a:avLst/>
          </a:prstGeom>
          <a:solidFill>
            <a:srgbClr val="FAFAF8"/>
          </a:solidFill>
          <a:ln w="12700">
            <a:solidFill>
              <a:srgbClr val="F2E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520440"/>
            <a:ext cx="4160520" cy="45720"/>
          </a:xfrm>
          <a:prstGeom prst="rect">
            <a:avLst/>
          </a:prstGeom>
          <a:solidFill>
            <a:srgbClr val="6B4C8A"/>
          </a:solidFill>
          <a:ln w="12700">
            <a:solidFill>
              <a:srgbClr val="6B4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3016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Exactly what I will say and 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08736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script. Every word. Including what you will do if a pupil doesn't comply.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148840"/>
            <a:ext cx="4160520" cy="1234440"/>
          </a:xfrm>
          <a:prstGeom prst="rect">
            <a:avLst/>
          </a:prstGeom>
          <a:solidFill>
            <a:srgbClr val="FAFAF8"/>
          </a:solidFill>
          <a:ln w="12700">
            <a:solidFill>
              <a:srgbClr val="F2E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148840"/>
            <a:ext cx="4160520" cy="45720"/>
          </a:xfrm>
          <a:prstGeom prst="rect">
            <a:avLst/>
          </a:prstGeom>
          <a:solidFill>
            <a:srgbClr val="6B4C8A"/>
          </a:solidFill>
          <a:ln w="12700">
            <a:solidFill>
              <a:srgbClr val="6B4C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25856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will know it has worked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71576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see, hear, or measure? In 2 weeks, what will be different?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3520440"/>
            <a:ext cx="4160520" cy="1234440"/>
          </a:xfrm>
          <a:prstGeom prst="rect">
            <a:avLst/>
          </a:prstGeom>
          <a:solidFill>
            <a:srgbClr val="FAFAF8"/>
          </a:solidFill>
          <a:ln w="12700">
            <a:solidFill>
              <a:srgbClr val="F2E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520440"/>
            <a:ext cx="4160520" cy="45720"/>
          </a:xfrm>
          <a:prstGeom prst="rect">
            <a:avLst/>
          </a:prstGeom>
          <a:solidFill>
            <a:srgbClr val="6B4C8A"/>
          </a:solidFill>
          <a:ln w="12700">
            <a:solidFill>
              <a:srgbClr val="6B4C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63016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 am telling about this (accountability)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408736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colleague. Tell them what you are trying. Ask them to check in.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ACTIVITY 5  ✦  </a:t>
            </a:r>
            <a:pPr algn="ctr" indent="0" marL="0">
              <a:buNone/>
            </a:pPr>
            <a:r>
              <a:rPr lang="en-US" sz="1200" spc="200" kern="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 ·  12 mins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Would You Do?"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scenario. Discuss in your group. Agree on the best response.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2651760" cy="274320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148840"/>
            <a:ext cx="2651760" cy="45720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214884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697480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the instruction to start the task. Three pupils in the back row continue talking. You have already asked once.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3931920"/>
            <a:ext cx="2450592" cy="18288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4005072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you do next? What exactly do you say?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51760" cy="274320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48840"/>
            <a:ext cx="2651760" cy="45720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214884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2697480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pupil refuses to follow the seating plan. They say 'I always sit here — ask anyone.' Other pupils are watching.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0128" y="3931920"/>
            <a:ext cx="2450592" cy="18288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4005072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you respond in the moment? What is your tone, your body language, your words?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2148840"/>
            <a:ext cx="2651760" cy="2743200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2148840"/>
            <a:ext cx="2651760" cy="45720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214884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0488" y="2697480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Halfway through a lesson, the class becomes increasingly noisy and off-task. You feel the lesson slipping.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0488" y="3931920"/>
            <a:ext cx="2450592" cy="18288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0488" y="4005072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your reset strategy? How do you regain the room without escalating?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covered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8503920" cy="420624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0"/>
            <a:ext cx="54864" cy="420624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8470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research case for strong behaviour routines and what poor routines cost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322576"/>
            <a:ext cx="8503920" cy="420624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322576"/>
            <a:ext cx="54864" cy="420624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340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Four Pillars of Behaviour for Learning: Environment, Routine, Relationship, Consistency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816352"/>
            <a:ext cx="8503920" cy="420624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816352"/>
            <a:ext cx="54864" cy="420624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834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perfect lesson entry — a step-by-step model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310128"/>
            <a:ext cx="8503920" cy="420624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310128"/>
            <a:ext cx="54864" cy="420624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32841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First-time compliance: what it is, what it is not, and why it matters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803904"/>
            <a:ext cx="8503920" cy="420624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803904"/>
            <a:ext cx="54864" cy="420624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8221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Three interactive activities and an implementation plan to take away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4297680"/>
            <a:ext cx="8503920" cy="420624"/>
          </a:xfrm>
          <a:prstGeom prst="rect">
            <a:avLst/>
          </a:prstGeom>
          <a:solidFill>
            <a:srgbClr val="FAFAF8"/>
          </a:solidFill>
          <a:ln w="12700">
            <a:solidFill>
              <a:srgbClr val="EDE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297680"/>
            <a:ext cx="54864" cy="420624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3159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Nishkam dimension: peacefulness as professional practice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SESSION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before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meet again.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2331720"/>
            <a:ext cx="8321040" cy="640080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233172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240487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Implementation Plan and try your entry routine in at least two different classes.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3081528"/>
            <a:ext cx="8321040" cy="640080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3081528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8992" y="31546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 happened. What worked? What surprised you? What will you adjust?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3831336"/>
            <a:ext cx="8321040" cy="640080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383133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8992" y="390448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colleague what you are working on. Ask them to check in. Accountability is a professional virtue.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4663440"/>
            <a:ext cx="5486400" cy="18288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7731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Explaining &amp; Modelling  ·  </a:t>
            </a:r>
            <a:pPr indent="0" marL="0">
              <a:buNone/>
            </a:pPr>
            <a:r>
              <a:rPr lang="en-US" sz="1000" i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Neeva, Mat Uchi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Behaviour for Learning — T&amp;L Excellence Session 1</dc:title>
  <dc:subject>PptxGenJS Presentation</dc:subject>
  <dc:creator>PptxGenJS</dc:creator>
  <cp:lastModifiedBy>PptxGenJS</cp:lastModifiedBy>
  <cp:revision>1</cp:revision>
  <dcterms:created xsi:type="dcterms:W3CDTF">2026-04-22T18:54:52Z</dcterms:created>
  <dcterms:modified xsi:type="dcterms:W3CDTF">2026-04-22T18:54:52Z</dcterms:modified>
</cp:coreProperties>
</file>